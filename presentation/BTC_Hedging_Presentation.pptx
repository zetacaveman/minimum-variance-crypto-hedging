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BTC FUTURES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891B2"/>
                </a:solidFill>
                <a:latin typeface="Calibri"/>
              </a:defRPr>
            </a:pPr>
            <a:r>
              <a:t>HEDGING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8F0"/>
                </a:solidFill>
                <a:latin typeface="Calibri"/>
              </a:defRPr>
            </a:pPr>
            <a:r>
              <a:t>Minimum-Variance Hedge Ratio:</a:t>
            </a:r>
            <a:br/>
            <a:r>
              <a:t>Naive vs Static vs Dynamic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Calibri"/>
              </a:defRPr>
            </a:pPr>
            <a:r>
              <a:t>QUANT BOOTCAMP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828800"/>
            <a:ext cx="5029200" cy="10515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828800"/>
            <a:ext cx="54864" cy="1051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891B2"/>
                </a:solidFill>
                <a:latin typeface="Calibri"/>
              </a:defRPr>
            </a:pPr>
            <a:r>
              <a:t>5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BTC-USD &amp; Futures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3200400"/>
            <a:ext cx="5029200" cy="10515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3200400"/>
            <a:ext cx="54864" cy="1051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891B2"/>
                </a:solidFill>
                <a:latin typeface="Calibri"/>
              </a:defRPr>
            </a:pPr>
            <a:r>
              <a:t>3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Naive · Static · Dynamic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4572000"/>
            <a:ext cx="5029200" cy="10515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4572000"/>
            <a:ext cx="54864" cy="1051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891B2"/>
                </a:solidFill>
                <a:latin typeface="Calibri"/>
              </a:defRPr>
            </a:pPr>
            <a:r>
              <a:t>76.8%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Best Variance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Data: Yahoo Finance  |  2021–2025  |  60-day rolling window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WHY HEDGE BTC?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109728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Long Spot BTC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Hold BTC directly — exposed to full price volatility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029200" cy="109728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Short Futures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Take offsetting futures position to reduce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029200" cy="109728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54864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Goal: Minimize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Not eliminate P&amp;L, but reduce daily fluctuations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54480"/>
            <a:ext cx="4754880" cy="5943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Linear exposure — portfolio P&amp;L is spot P&amp;L minus futures P&amp;L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31720"/>
            <a:ext cx="4754880" cy="5943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423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Hedge ratio fixed within each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08960"/>
            <a:ext cx="4754880" cy="5943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2004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Self-financing — no interim cash 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86200"/>
            <a:ext cx="4754880" cy="5943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97763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Log returns used for symmetric properties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63440"/>
            <a:ext cx="4754880" cy="5943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75487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No transaction costs or margin frictions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THE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Minimum-Variance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1280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891B2"/>
                </a:solidFill>
                <a:latin typeface="Calibri"/>
              </a:defRPr>
            </a:pPr>
            <a:r>
              <a:t>Hedged Portfolio Return</a:t>
            </a:r>
          </a:p>
        </p:txBody>
      </p:sp>
      <p:pic>
        <p:nvPicPr>
          <p:cNvPr id="7" name="Picture 6" descr="formula_hed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2926080" cy="4456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Calibri"/>
              </a:defRPr>
            </a:pPr>
            <a:r>
              <a:t>where rₛ = spot return,  r_f = futures return,  h = hedge ratio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Optimal Hedge Ratio (Minimize Variance)</a:t>
            </a:r>
          </a:p>
        </p:txBody>
      </p:sp>
      <p:pic>
        <p:nvPicPr>
          <p:cNvPr id="12" name="Picture 11" descr="formula_h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57600"/>
            <a:ext cx="2560320" cy="838913"/>
          </a:xfrm>
          <a:prstGeom prst="rect">
            <a:avLst/>
          </a:prstGeom>
        </p:spPr>
      </p:pic>
      <p:pic>
        <p:nvPicPr>
          <p:cNvPr id="13" name="Picture 12" descr="formula_der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703320"/>
            <a:ext cx="2560320" cy="69046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4B8A6"/>
                </a:solidFill>
                <a:latin typeface="Calibri"/>
              </a:defRPr>
            </a:pPr>
            <a:r>
              <a:t>Intuition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235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The optimal hedge is essentially the OLS beta of spot returns on futures returns.</a:t>
            </a:r>
            <a:br/>
            <a:r>
              <a:t>If spot and futures move 1-to-1, h* = 1. In practice, basis risk means h* &lt; 1.</a:t>
            </a:r>
            <a:br/>
            <a:r>
              <a:t>For BTC: h* ≈ 0.85 — hedge ~85% of spot exposure, not 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THREE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75488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" cy="4754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891B2"/>
                </a:solidFill>
                <a:latin typeface="Calibri"/>
              </a:defRPr>
            </a:pPr>
            <a:r>
              <a:t>Naive Hedge</a:t>
            </a:r>
          </a:p>
        </p:txBody>
      </p:sp>
      <p:pic>
        <p:nvPicPr>
          <p:cNvPr id="6" name="Picture 5" descr="formula_na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57400"/>
            <a:ext cx="1097280" cy="4650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28346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Assumes spot and futures</a:t>
            </a:r>
            <a:br/>
            <a:r>
              <a:t>move dollar-for-dollar.</a:t>
            </a:r>
            <a:br/>
            <a:r>
              <a:t>Simplest benchmark —</a:t>
            </a:r>
            <a:br/>
            <a:r>
              <a:t>no estimation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2926080" cy="6400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4B8A6"/>
                </a:solidFill>
                <a:latin typeface="Calibri"/>
              </a:defRPr>
            </a:pPr>
            <a:r>
              <a:t>✓  Zero estimation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F4444"/>
                </a:solidFill>
                <a:latin typeface="Calibri"/>
              </a:defRPr>
            </a:pPr>
            <a:r>
              <a:t>✗  Ignores basis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3291840" cy="475488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54864" cy="4754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59E0B"/>
                </a:solidFill>
                <a:latin typeface="Calibri"/>
              </a:defRPr>
            </a:pPr>
            <a:r>
              <a:t>Static Hedge</a:t>
            </a:r>
          </a:p>
        </p:txBody>
      </p:sp>
      <p:pic>
        <p:nvPicPr>
          <p:cNvPr id="14" name="Picture 13" descr="formula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57400"/>
            <a:ext cx="2560320" cy="761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63440" y="28346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Single OLS estimate over</a:t>
            </a:r>
            <a:br/>
            <a:r>
              <a:t>the full 5-year sample.</a:t>
            </a:r>
            <a:br/>
            <a:r>
              <a:t>Data-driven but assumes</a:t>
            </a:r>
            <a:br/>
            <a:r>
              <a:t>stable relationship.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4389120"/>
            <a:ext cx="2926080" cy="6400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4B8A6"/>
                </a:solidFill>
                <a:latin typeface="Calibri"/>
              </a:defRPr>
            </a:pPr>
            <a:r>
              <a:t>✓  Optimal in-sample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F4444"/>
                </a:solidFill>
                <a:latin typeface="Calibri"/>
              </a:defRPr>
            </a:pPr>
            <a:r>
              <a:t>✗  Can't adapt to regime shifts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291840" cy="475488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54864" cy="4754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4B8A6"/>
                </a:solidFill>
                <a:latin typeface="Calibri"/>
              </a:defRPr>
            </a:pPr>
            <a:r>
              <a:t>Dynamic Hedge</a:t>
            </a:r>
          </a:p>
        </p:txBody>
      </p:sp>
      <p:pic>
        <p:nvPicPr>
          <p:cNvPr id="22" name="Picture 21" descr="formula_dyna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057400"/>
            <a:ext cx="2560320" cy="8275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66760" y="28346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Rolling 60-day window</a:t>
            </a:r>
            <a:br/>
            <a:r>
              <a:t>re-estimates h each day.</a:t>
            </a:r>
            <a:br/>
            <a:r>
              <a:t>Lagged to avoid</a:t>
            </a:r>
            <a:br/>
            <a:r>
              <a:t>look-ahead bias.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389120"/>
            <a:ext cx="2926080" cy="6400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4B8A6"/>
                </a:solidFill>
                <a:latin typeface="Calibri"/>
              </a:defRPr>
            </a:pPr>
            <a:r>
              <a:t>✓  Adapts to market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F4444"/>
                </a:solidFill>
                <a:latin typeface="Calibri"/>
              </a:defRPr>
            </a:pPr>
            <a:r>
              <a:t>✗  Noisier estimates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DATA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754880" cy="7315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891B2"/>
                </a:solidFill>
                <a:latin typeface="Calibri"/>
              </a:defRPr>
            </a:pPr>
            <a:r>
              <a:t>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BTC-USD daily close (Yahoo Finance)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4754880" cy="7315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Futures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BTC=F — CME Bitcoin Futures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4754880" cy="7315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4864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4B8A6"/>
                </a:solidFill>
                <a:latin typeface="Calibri"/>
              </a:defRPr>
            </a:pPr>
            <a:r>
              <a:t>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Jan 2021 — Dec 2025 (~1,800 obs)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212080" cy="7315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4864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891B2"/>
                </a:solidFill>
                <a:latin typeface="Calibri"/>
              </a:defRPr>
            </a:pPr>
            <a:r>
              <a:t>Returns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Log returns: ln(Pₜ / Pₜ₋₁)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286000"/>
            <a:ext cx="5212080" cy="7315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28600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60-day rolling for dynamic hedge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00400"/>
            <a:ext cx="5212080" cy="7315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4B8A6"/>
                </a:solidFill>
                <a:latin typeface="Calibri"/>
              </a:defRPr>
            </a:pPr>
            <a:r>
              <a:t>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291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hₜ₋₁ applied at time t (no look-ahead)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0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Calibri"/>
              </a:defRPr>
            </a:pPr>
            <a:r>
              <a:t>Download spot &amp; futures  →  Compute log returns  →  Estimate h (naive / static / dynamic)  →  Compute hedged returns  →  Measure variance reduction (HE)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CUMULATIVE GROSS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94A3B8"/>
                </a:solidFill>
                <a:latin typeface="Calibri"/>
              </a:defRPr>
            </a:pPr>
            <a:r>
              <a:t>Unhedged vs Hedging Strategies (2021–2025)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mulative_return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132320" cy="4563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891B2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291840" cy="9601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54864" cy="960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965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891B2"/>
                </a:solidFill>
                <a:latin typeface="Calibri"/>
              </a:defRPr>
            </a:pPr>
            <a:r>
              <a:t>Unhedged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402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2E8F0"/>
                </a:solidFill>
                <a:latin typeface="Calibri"/>
              </a:defRPr>
            </a:pPr>
            <a:r>
              <a:t>Highest return in bull markets,</a:t>
            </a:r>
            <a:br/>
            <a:r>
              <a:t>but largest drawdowns.</a:t>
            </a:r>
            <a:br/>
            <a:r>
              <a:t>Final: ~1.49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063240"/>
            <a:ext cx="3291840" cy="9601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306324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Naive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3832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2E8F0"/>
                </a:solidFill>
                <a:latin typeface="Calibri"/>
              </a:defRPr>
            </a:pPr>
            <a:r>
              <a:t>Nearly flat around 1.0 —</a:t>
            </a:r>
            <a:br/>
            <a:r>
              <a:t>almost fully neutralizes</a:t>
            </a:r>
            <a:br/>
            <a:r>
              <a:t>BTC exposure.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4206240"/>
            <a:ext cx="3291840" cy="9601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4864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2519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4B8A6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52627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2E8F0"/>
                </a:solidFill>
                <a:latin typeface="Calibri"/>
              </a:defRPr>
            </a:pPr>
            <a:r>
              <a:t>Reduces volatility while</a:t>
            </a:r>
            <a:br/>
            <a:r>
              <a:t>preserving some upside.</a:t>
            </a:r>
            <a:br/>
            <a:r>
              <a:t>Final: ~1.06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5349240"/>
            <a:ext cx="3291840" cy="9601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5349240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53949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Calibri"/>
              </a:defRPr>
            </a:pPr>
            <a:r>
              <a:t>Dynamic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66927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2E8F0"/>
                </a:solidFill>
                <a:latin typeface="Calibri"/>
              </a:defRPr>
            </a:pPr>
            <a:r>
              <a:t>Best cumulative return</a:t>
            </a:r>
            <a:br/>
            <a:r>
              <a:t>among hedged strategies.</a:t>
            </a:r>
            <a:br/>
            <a:r>
              <a:t>Final: ~1.31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HEDGING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Variance Reduction Analysis</a:t>
            </a:r>
          </a:p>
        </p:txBody>
      </p:sp>
      <p:pic>
        <p:nvPicPr>
          <p:cNvPr id="4" name="Picture 3" descr="varianc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943600" cy="2928668"/>
          </a:xfrm>
          <a:prstGeom prst="rect">
            <a:avLst/>
          </a:prstGeom>
        </p:spPr>
      </p:pic>
      <p:pic>
        <p:nvPicPr>
          <p:cNvPr id="5" name="Picture 4" descr="hedge_effectiv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029200" cy="28878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Summary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0891B2"/>
                </a:solidFill>
                <a:latin typeface="Calibri"/>
              </a:defRPr>
            </a:pPr>
            <a:r>
              <a:t>74.5%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Naive 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59E0B"/>
                </a:solidFill>
                <a:latin typeface="Calibri"/>
              </a:defRPr>
            </a:pPr>
            <a:r>
              <a:t>76.8%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897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Static 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14B8A6"/>
                </a:solidFill>
                <a:latin typeface="Calibri"/>
              </a:defRPr>
            </a:pPr>
            <a:r>
              <a:t>75.9%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897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Dynamic 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h* = 0.85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897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Optimal Ratio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891B2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474720" cy="274320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Hedging ≠ maximizing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Preserve wealth → hedge.</a:t>
            </a:r>
            <a:br/>
            <a:r>
              <a:t>Reduces volatility &amp; drawdowns.</a:t>
            </a:r>
            <a:br/>
            <a:br/>
            <a:r>
              <a:t>Grow capital → don't hedge.</a:t>
            </a:r>
            <a:br/>
            <a:r>
              <a:t>Keep full upside, manage</a:t>
            </a:r>
            <a:br/>
            <a:r>
              <a:t>position size instead.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097280"/>
            <a:ext cx="6126480" cy="100584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1097280"/>
            <a:ext cx="54864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891B2"/>
                </a:solidFill>
                <a:latin typeface="Calibri"/>
              </a:defRPr>
            </a:pPr>
            <a:r>
              <a:t>All strategies cut variance 74–77%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2468880"/>
            <a:ext cx="6126480" cy="100584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46888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743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59E0B"/>
                </a:solidFill>
                <a:latin typeface="Calibri"/>
              </a:defRPr>
            </a:pPr>
            <a:r>
              <a:t>Static hedge wins in-sample (76.8%)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840480"/>
            <a:ext cx="6126480" cy="100584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3840480"/>
            <a:ext cx="54864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4114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4B8A6"/>
                </a:solidFill>
                <a:latin typeface="Calibri"/>
              </a:defRPr>
            </a:pPr>
            <a:r>
              <a:t>Optimal h* ≈ 0.85, not 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5303520"/>
            <a:ext cx="6126480" cy="10972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5440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For 1 BTC:  short ~0.85 BTC futures for best variance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852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Naive (h=1) over-hedges  ·  Dynamic (h≈0.82) adapts but adds noise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